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21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645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" cy="32004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8872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智慧路灯管理系统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kern="0" spc="150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AI智能问答模块设计与实现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《企业项目实战》答辩报告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答辩人：邓德银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学号：632307060521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班级：计算机科学与技术 2023级5班</a:t>
            </a:r>
            <a:endParaRPr lang="en-US" sz="1400" dirty="0"/>
          </a:p>
        </p:txBody>
      </p:sp>
      <p:sp>
        <p:nvSpPr>
          <p:cNvPr id="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项目背景与系统概述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0789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个人职责说明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9436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AI模块架构设计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64592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719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两步式问答与RAG知识库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AI工具调用系统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RBAC权限分权控制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94360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29992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多轮对话与会话管理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9992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前端Chat UI实现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4360" y="3639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测试验证与结果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56616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46320" y="3639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技术难点与解决方案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3977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94360" y="4279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4279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2 页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项目背景与系统概述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智慧城市建设需求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传统路灯管理面临能耗高、运维效率低、故障响应慢等挑战。物联网、云计算和AI技术的成熟，为路灯管理的智能化升级提供了技术基础。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005840"/>
            <a:ext cx="3291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53212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IoT数据采集与实时监控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光照阈值自动控制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9202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手动远程控制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148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离线告警与历史趋势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AI智能问答助手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33756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32735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v5 / EMQX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33756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260604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22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3 页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个人职责说明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负责模块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AI智能问答模块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全栈开发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API接入、两步式问答流程、工具调用系统、权限控制、会话管理、前端Chat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MQTT消息接入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42316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参与开发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早期MQTT消息收发与数据库基础架构搭建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73152" cy="86868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17520" y="3429000"/>
            <a:ext cx="1097280" cy="256032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017520" y="3429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AI模块功能测试、权限边界验证、多轮对话测试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4 页</a:t>
            </a:r>
            <a:endParaRPr lang="en-US" sz="900" dirty="0"/>
          </a:p>
        </p:txBody>
      </p:sp>
      <p:sp>
        <p:nvSpPr>
          <p:cNvPr id="2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Chat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84708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ChatController (REST API)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596896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65760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ChatServiceImpl (核心业务)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34670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57600" y="3438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ToolExecutor + 权限配置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409651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5760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645920"/>
            <a:ext cx="0" cy="201168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0" y="2395728"/>
            <a:ext cx="0" cy="201168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3145536"/>
            <a:ext cx="0" cy="201168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0" y="3895344"/>
            <a:ext cx="0" cy="201168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184708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4864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9689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8640" y="26700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59689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49440" y="26700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存储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334670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949440" y="34198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控制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5 页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两步式智能问答流程（核心创新）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问题：传统AI问答直接生成回答，存在意图识别不准和"幻觉"问题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工具选择阶段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0.0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高确定性输出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输入：用户问题 + 工具选择System Prompt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输出：JSON格式工具调用指令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{"tool": "xxx", "params": {...}}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1828800"/>
            <a:ext cx="658368" cy="365760"/>
          </a:xfrm>
          <a:prstGeom prst="rightArrow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98348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20640" y="14173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回答生成阶段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0.7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自然语言风格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输入：工具执行结果 + 历史上下文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输出：基于真实数据的自然语言回答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设计优势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意图识别与内容生成解耦，每步Prompt更聚焦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13048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8130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856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低temperature保证工具名和参数提取准确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105656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056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0782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工具执行在可控Java代码中进行，安全性高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98264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3982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708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回答基于真实数据，避免LLM幻觉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6 页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AI工具调用系统（16个工具）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查询类（7个）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get_device_summary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get_device_detail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get_latest_sensor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get_sensor_history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93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get_alarms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get_control_logs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560320" y="1005840"/>
            <a:ext cx="1920240" cy="3657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56032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控制类（3个）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5176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control_light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6517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set_threshold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65176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switch_control_mode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1920240" cy="365760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66344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管理类（5个）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add_device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92024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75488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update_device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31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75488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delete_device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743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75488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bind_sensor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75488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unbind_sensor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65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solidFill>
            <a:srgbClr val="F565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766560" y="1051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告警类（1个）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58000" y="15087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85800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resolve_alarm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8 页</a:t>
            </a:r>
            <a:endParaRPr lang="en-US" sz="900" dirty="0"/>
          </a:p>
        </p:txBody>
      </p:sp>
      <p:sp>
        <p:nvSpPr>
          <p:cNvPr id="4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RBAC权限分权控制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双层权限控制：Prompt层声明 + Java代码拦截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04672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可调用工具数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admin（系统管理员）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16个（全部）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查询+控制+管理+告警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系统管理者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manager（路灯管理员）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16个（全部）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查询+控制+管理+告警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路灯管理部门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municipal（市政人员）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10个（受限）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仅查询+控制类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市政值班人员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安全设计要点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6"/>
          <p:cNvSpPr/>
          <p:nvPr/>
        </p:nvSpPr>
        <p:spPr>
          <a:xfrm>
            <a:off x="777240" y="3218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ToolPermissionConfig.isToolAllowed() 代码级拦截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538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getToolsPrompt(role) 仅列出该角色可用工具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88620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57200" y="3886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3858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getAnswerSystemPrompt(role) 告知模型权限边界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228600" cy="2286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57200" y="4206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" y="4178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即使LLM输出未授权调用，ToolExecutor也会拦截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9 页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多轮对话与会话管理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会话安全隔离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50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ChatSession 实体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title | userId | createdAt | updatedAt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ChatMessage 实体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sessionId | role(user/assistant) | content | createdAt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6758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requireOwnSession() 验证会话归属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多轮上下文构建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36592" y="1280160"/>
            <a:ext cx="39502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73752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MAX_HISTORY = 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645920"/>
            <a:ext cx="3675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保留最近20条消息作为上下文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按时间升序排列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格式化为 OpenAI 兼容消息数组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2331720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自动设置会话标题（首次消息）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创建/重命名/删除会话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多会话独立管理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用户会话完全隔离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互不可见、403拦截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前端Pinia状态管理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实时同步会话列表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10 页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前端Chat UI实现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822960" cy="3291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会话列表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44752" y="1371600"/>
            <a:ext cx="676656" cy="32004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44752" y="141732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新对话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409E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51760" y="1536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设备DEV-001状态？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20116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42316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DEV-001在线，开灯状态...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94560" y="3749040"/>
            <a:ext cx="237744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377440" y="38862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37744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输入消息...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12064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Composition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764792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120640" y="1719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组件库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112264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120640" y="2066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状态管理 (chatStore)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59736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2064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API 通信层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07208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120640" y="2761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打字机动画效果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自动滚动到最新消息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11 页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测试验证与结果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77724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纯闲聊对话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AI正确识别为纯对话，返回自我介绍，无工具调用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设备信息查询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selectTool正确返回工具名，数据注入后生成自然语言回答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远程控制路灯(admin)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正确调用control_light，MQTT下发成功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权限边界验证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municipal角色尝试管理操作被礼貌拒绝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多轮对话上下文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AI正确理解"它"指代DEV-001，查询光照阈值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会话隔离验证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非所有者访问返回403，会话列表互不可见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全部6个测试用例通过。两步式问答流程准确区分对话意图，16个AI工具均能被正确调用。RBAC权限控制在Prompt和代码两个层面均有效拦截越权操作。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12 页</a:t>
            </a:r>
            <a:endParaRPr lang="en-US" sz="900" dirty="0"/>
          </a:p>
        </p:txBody>
      </p:sp>
      <p:sp>
        <p:nvSpPr>
          <p:cNvPr id="1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技术难点与解决方案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难点：DeepSeek API网络延迟波动（&gt;10秒）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解决：前端添加加载动画（打字机效果）+ 后端增加降级逻辑，返回友好提示而非异常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难点：Spring循环依赖（MqttMessageHandler ↔ MqttClientManager）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解决：使用@Lazy注解打破循环，让Spring注入代理对象，首次调用时解析实际Bean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难点：LLM JSON输出格式不稳定（代码块包裹/裸JSON/格式错误）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15468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解决：extractJson()方法通过正则匹配提取第一个{}花括号对，并加入异常处理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难点：AI工具调用安全控制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60120" y="41605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解决："System Prompt声明 + Java代码拦截"双层权限控制方案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13 页</a:t>
            </a:r>
            <a:endParaRPr lang="en-US" sz="900" dirty="0"/>
          </a:p>
        </p:txBody>
      </p:sp>
      <p:sp>
        <p:nvSpPr>
          <p:cNvPr id="2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项目收获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掌握Spring Boot全栈开发与MQTT物联网协议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深入理解LLM API集成与Prompt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实践RBAC权限模型在AI场景中的落地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提升工程素养：降级、安全、错误处理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9144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6592" y="128016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10912" y="123444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接入SSE流式输出，实现逐字输出效果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16002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10912" y="155448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升级为Agent模式，支持多步骤任务规划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92024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10912" y="187452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搭建JUnit 5 + Mockito测试框架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24028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10912" y="219456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Key迁移到环境变量/配置中心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从"人在回路上"逐步演进到"人在回路中"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最终实现真正智能化的自主运营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14 页</a:t>
            </a:r>
            <a:endParaRPr lang="en-US" sz="900" dirty="0"/>
          </a:p>
        </p:txBody>
      </p:sp>
      <p:sp>
        <p:nvSpPr>
          <p:cNvPr id="2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0" y="211455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kern="0" spc="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84607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4861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| 计算机科学与技术 2023级5班 | 632307060521</a:t>
            </a:r>
            <a:endParaRPr lang="en-US" sz="1200" dirty="0"/>
          </a:p>
        </p:txBody>
      </p:sp>
      <p:sp>
        <p:nvSpPr>
          <p:cNvPr id="6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知识库与RAG问答系统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基于用户上传文档的检索增强生成，让AI回答有据可依、引用可查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知识库文档管理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支持格式：TXT / MD / PDF / DOCX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拖拽上传，单文件≤15MB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 → 文本分块（500字/块）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Embedding向量化 → 存入向量库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同名文件自动去重替换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1828800"/>
            <a:ext cx="658368" cy="365760"/>
          </a:xfrm>
          <a:prstGeom prst="rightArrow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983480" y="128016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20640" y="14173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RAG检索问答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 → Embedding向量化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余弦相似度检索 Top-K 片段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拼接知识上下文 + 引用来源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DeepSeek 生成回答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内存向量存储 + JSON持久化，启动自动恢复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13048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8130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856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与Chat问答无缝集成，无工具调用时自动检索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105656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056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0782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可选MaxKB外部知识库，服务降级有保障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98264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3982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708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回答引用来源文件名，有效避免LLM幻觉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邓德银 - 智慧路灯管理系统答辩  第 7 页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812</Words>
  <Application>Microsoft Office PowerPoint</Application>
  <PresentationFormat>全屏显示(16:9)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607 yicheng</cp:lastModifiedBy>
  <cp:revision>2</cp:revision>
  <dcterms:created xsi:type="dcterms:W3CDTF">2026-07-11T08:18:57Z</dcterms:created>
  <dcterms:modified xsi:type="dcterms:W3CDTF">2026-07-12T01:23:51Z</dcterms:modified>
</cp:coreProperties>
</file>